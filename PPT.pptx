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57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93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21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379EA6-5DDA-4DBF-3C0F-0ED4E129BB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A8879-B667-C2A4-58D4-EEA558ECEB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004CB4-B392-1A5D-C0CC-D5E8C3D0A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F0722-86BA-45AC-E41D-714D96DE2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1EC775-6E31-4748-4ABE-C654F2546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6087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505647-9A64-4B96-6F6F-AC57D53523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FAD347-53EC-81C0-B187-457CDA405A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5BAC75-96AB-730D-D4F7-159D572F3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AE2852-4EDF-A284-1774-3F9C3987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BCC8E9-81FF-EBA3-11D9-B28ED7317A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48769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14759-5804-169F-C3F9-77356B063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C3C776-8FCF-09A6-A01B-CD5396689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DA319B-8289-9CC7-3F85-E57DFB0A11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33586A-2D8F-F4EC-6303-9BF27901C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10A90-FDDD-1077-991C-7C23096437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228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48C542-976E-A089-4B43-E24E7B236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156F6F-C2BD-2637-CB03-C9077FCD0A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665F4-49F1-A163-FAD6-F9274CD915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E7B27B-3237-7C9B-E5BC-69C628340E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AED4EE-17E0-FF0E-BDC1-FC6C728A01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54948F-3583-7AD1-9FE5-FFD05D5AE0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73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F05C7-FE59-C210-52B5-99C1E7FC2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7BFD05-1BF9-C098-8C1A-D5640B513C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40565E-A0D5-2F4B-D84B-01B09F4AB1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113B82-108F-81B5-76B6-D103A80CF33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E3C2AAA-6A78-0355-049A-E9B2B8445DC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EC573-5650-0102-BE00-15DECC68A0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93B970-73A4-3046-0AAA-F3A8D0FD42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F363C6-1120-F5E7-C618-F944240BBF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510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449B5B-3C15-166C-5014-B85399C85F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298C4-07DB-DE04-109F-ADF21619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15604-45B0-5EC1-AD23-82D10988F5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86F4E0-08ED-4B8C-FFD4-F80ABFA29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3669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3F91D6-54E9-629A-7032-98E403D7E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9F2F3-76BB-30D2-0553-97A506733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DC647-05AE-DAFC-418B-420F251FD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0404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CA2495-1AC8-8D08-0078-0E6B9E7C54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1D280-ADD9-CE62-26CC-C941DCD670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2527DF-032E-45FC-148C-63A7E6B14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A0E798-8B9B-7EEC-CB6D-1182641A8A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584C5F-9FCD-B636-ADEF-598F97A8E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39F241-962C-8B78-93B2-26817D56A5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6216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B0464-38C6-60F5-C1EF-9FB50ADB21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D678D16-D52C-304C-B7EA-78FADE59E66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11637C-7ADB-CD7A-ED6C-8B0BA0C82A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34CF96-C454-6A41-F774-E55EC1950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CEA164-E017-D826-B64F-B184F1C0E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049B27-D784-49B7-82C4-CF51AE6A7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94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B6B764-CFB3-D3A2-309E-C101C3937F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9FD206-EC07-576D-265C-11578EBC78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0A0EB1-10BD-01C5-FD61-BBFCF0F53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AA4B68-F433-5FA7-8554-3CE0465A7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8C4101-74CF-34A8-4A2C-0761F5361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51032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A838CEC-3516-C150-219C-2A1E817289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A74FE3-1E56-1A4A-D877-FED840FB2C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055661-1B3F-F9C2-086D-E5C5864DE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5C4CF-ED7D-8236-86DD-12757E404B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2C270C-396F-3A22-987C-DC3C6D1547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0049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EB7DE38-DA0E-2286-287E-48A850612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98E3DC-2039-0151-02FD-8F4F4A489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6FA5C-7F66-85AA-C344-E2626DD1D52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BB2875-D917-4141-A7BE-1A281E820407}" type="datetimeFigureOut">
              <a:rPr lang="en-US" smtClean="0"/>
              <a:t>4/25/2025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F7C963-3361-FA12-89E7-FAF4283C6C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004DF8-C578-2AD6-A75C-9AA53AFEE1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D8F12C9-2297-46E4-BACA-0857E66239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4440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55DB98-A20B-F3FF-AEE0-AFB5FB1E44A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FINAL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5AF91-4ABA-AA10-AD3B-F7570C00F4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792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431E4-056A-47B9-2005-BB03F33C9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EDA355A-7C67-ADE4-46E3-BE9FC5FC3FF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98464"/>
            <a:ext cx="10466540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explores how image resolution and Gaussian blur affect facial recognition accuracy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Controlled experiments were conducted using the Caltech Faces Dataset and Mediapipe FaceMesh, adjusting image resolution and applying varying levels of Gaussian blur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investigates two key research questions: How does image resolution affect the accuracy of facial recognition? How does adding a Gaussian blur to the images impact recognition accuracy?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Results showed higher resolution and mild Gaussian blur (kernel size 7) improved recognition performance, offering insights for optimizing biometric systems.</a:t>
            </a:r>
          </a:p>
        </p:txBody>
      </p:sp>
    </p:spTree>
    <p:extLst>
      <p:ext uri="{BB962C8B-B14F-4D97-AF65-F5344CB8AC3E}">
        <p14:creationId xmlns:p14="http://schemas.microsoft.com/office/powerpoint/2010/main" val="38041219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EE288-6C5F-B1FA-F7B8-DF899EB6B6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Related Work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AEC981F-E233-D53C-A16B-F5DFA5C571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646805"/>
            <a:ext cx="10515600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Al-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Nuimi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&amp; Mohammed [1]: Used Mediapipe FaceMesh for facial direction estimation with trigonometric models, while my study applied the same tool for recognition accuracy under image quality changes.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Liu et al. [2]: Focused on estimating Gaussian blur kernels for deblurring images, providing essential background that informed my intentional use of blur to study its effect on facial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Lee et al. [3]: Investigated low-resolution face recognition using CNNs, offering a deep learning perspective complementary to my classical classifier approach focused on resolution impact.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Thaman et al. [4]: Applied Mediapipe FaceMesh for mask detection and facial feature segmentation, demonstrating its versatility and informing my use of it for landmark-based face recognition.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Matin et al. [5]: Implemented a score-level fusion system combining iris and face biometrics, while my study averaged outputs from two facial recognition classifiers to improve system accuracy.</a:t>
            </a:r>
          </a:p>
        </p:txBody>
      </p:sp>
    </p:spTree>
    <p:extLst>
      <p:ext uri="{BB962C8B-B14F-4D97-AF65-F5344CB8AC3E}">
        <p14:creationId xmlns:p14="http://schemas.microsoft.com/office/powerpoint/2010/main" val="32417435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1E5301-50A6-C0E8-3A7C-7A9B690DB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124AE0-ED40-F72A-FE35-B43B7F7560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Image Preprocessing: Adjusted image resolutions (50×50, 100×100, 200×200, 400×400 pixels) using OpenCV’s cv2.resize(), with 100×100 as the baseline for Gaussian Blur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Blur Application: Applied varying levels of blur (kernel sizes 3, 5, 7, 9, 11) using cv2.GaussianBlur() to evaluate its impact on recognition accuracy.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Feature Extraction: Used MediaPipe FaceMesh for extracting facial landmarks as (x, y) coordinates, chosen for its real-time performance and easy integration.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Classification &amp; Fusion: Performed recognition using K-Nearest Neighbors (KNN) and Support Vector Machine (SVM), combining their probability scores via score-level fusion to improve final recognition accuracy.</a:t>
            </a:r>
          </a:p>
        </p:txBody>
      </p:sp>
    </p:spTree>
    <p:extLst>
      <p:ext uri="{BB962C8B-B14F-4D97-AF65-F5344CB8AC3E}">
        <p14:creationId xmlns:p14="http://schemas.microsoft.com/office/powerpoint/2010/main" val="39677790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EB28DE-5BA4-3F11-1B03-7AF267E5A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B53582-2703-55D4-6E0A-47C3E478F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Resolution Impact: Reducing image resolution below 100×100 (like 50×50) significantly worsened recognition accuracy due to loss of facial detail, while increasing to 200×200 improved performance; gains beyond 200×200 were marginal.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Gaussian Blur Effect: Mild Gaussian blur (kernel sizes 3, 5, 7) improved accuracy by reducing image noise, with a kernel size of 7 achieving the best separation between genuine and impostor scores.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Excessive Blur: Larger blur kernels (9, 11) still outperformed no blur but started to degrade performance as important facial details were lost.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Score-Level Fusion Benefits: Combining KNN and SVM probability scores via fusion greatly improved system reliability, especially under degraded image conditions.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Without Fusion: Disabling score-level fusion caused the system’s error rates to spike, confirming its essential role in achieving clear decision boundaries and robust accuracy.</a:t>
            </a:r>
          </a:p>
        </p:txBody>
      </p:sp>
    </p:spTree>
    <p:extLst>
      <p:ext uri="{BB962C8B-B14F-4D97-AF65-F5344CB8AC3E}">
        <p14:creationId xmlns:p14="http://schemas.microsoft.com/office/powerpoint/2010/main" val="791807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039EFB7B-C26C-2E75-C1C6-17ED894E1A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167" r="8833"/>
          <a:stretch/>
        </p:blipFill>
        <p:spPr>
          <a:xfrm>
            <a:off x="0" y="-1"/>
            <a:ext cx="4087184" cy="325761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8A1EC77-F1C6-4C95-A2D4-7A61A5F9A69E}"/>
              </a:ext>
            </a:extLst>
          </p:cNvPr>
          <p:cNvSpPr txBox="1"/>
          <p:nvPr/>
        </p:nvSpPr>
        <p:spPr>
          <a:xfrm>
            <a:off x="3938502" y="1396694"/>
            <a:ext cx="133784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Baseline</a:t>
            </a:r>
          </a:p>
        </p:txBody>
      </p:sp>
      <p:pic>
        <p:nvPicPr>
          <p:cNvPr id="6" name="Picture 5" descr="A screenshot of a graph&#10;&#10;AI-generated content may be incorrect.">
            <a:extLst>
              <a:ext uri="{FF2B5EF4-FFF2-40B4-BE49-F238E27FC236}">
                <a16:creationId xmlns:a16="http://schemas.microsoft.com/office/drawing/2014/main" id="{9316D44D-A9DA-F16F-6AA9-AE81D80615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30" r="9324"/>
          <a:stretch/>
        </p:blipFill>
        <p:spPr>
          <a:xfrm>
            <a:off x="7728099" y="27975"/>
            <a:ext cx="4463901" cy="3330632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6A58FC3-34A4-ADC1-8A0A-123031110391}"/>
              </a:ext>
            </a:extLst>
          </p:cNvPr>
          <p:cNvSpPr txBox="1"/>
          <p:nvPr/>
        </p:nvSpPr>
        <p:spPr>
          <a:xfrm>
            <a:off x="5901665" y="1396694"/>
            <a:ext cx="196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ResolutionX50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A34C3F5-4460-97CD-05CF-F87348E2A291}"/>
              </a:ext>
            </a:extLst>
          </p:cNvPr>
          <p:cNvSpPr txBox="1"/>
          <p:nvPr/>
        </p:nvSpPr>
        <p:spPr>
          <a:xfrm>
            <a:off x="3938502" y="5557212"/>
            <a:ext cx="196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ResolutionX200</a:t>
            </a:r>
          </a:p>
        </p:txBody>
      </p:sp>
      <p:pic>
        <p:nvPicPr>
          <p:cNvPr id="12" name="Picture 11" descr="A screen shot of a graph&#10;&#10;AI-generated content may be incorrect.">
            <a:extLst>
              <a:ext uri="{FF2B5EF4-FFF2-40B4-BE49-F238E27FC236}">
                <a16:creationId xmlns:a16="http://schemas.microsoft.com/office/drawing/2014/main" id="{65EDA7D9-FA6D-2240-6CD7-76FD2E379BC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07" r="21436"/>
          <a:stretch/>
        </p:blipFill>
        <p:spPr>
          <a:xfrm>
            <a:off x="0" y="3233899"/>
            <a:ext cx="4087184" cy="3624102"/>
          </a:xfrm>
          <a:prstGeom prst="rect">
            <a:avLst/>
          </a:prstGeom>
          <a:ln>
            <a:solidFill>
              <a:srgbClr val="C00000"/>
            </a:solidFill>
          </a:ln>
        </p:spPr>
      </p:pic>
      <p:pic>
        <p:nvPicPr>
          <p:cNvPr id="14" name="Picture 13" descr="A screen shot of a graph&#10;&#10;AI-generated content may be incorrect.">
            <a:extLst>
              <a:ext uri="{FF2B5EF4-FFF2-40B4-BE49-F238E27FC236}">
                <a16:creationId xmlns:a16="http://schemas.microsoft.com/office/drawing/2014/main" id="{78DC9374-329B-C569-F733-5EE27E8F7B7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952" r="12077"/>
          <a:stretch/>
        </p:blipFill>
        <p:spPr>
          <a:xfrm>
            <a:off x="7707962" y="3358607"/>
            <a:ext cx="4422669" cy="3499393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6FEDAD1-426B-9C1C-C89E-D40719ABD38E}"/>
              </a:ext>
            </a:extLst>
          </p:cNvPr>
          <p:cNvSpPr txBox="1"/>
          <p:nvPr/>
        </p:nvSpPr>
        <p:spPr>
          <a:xfrm>
            <a:off x="5677454" y="4738971"/>
            <a:ext cx="19691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ResolutionX400</a:t>
            </a:r>
          </a:p>
        </p:txBody>
      </p:sp>
    </p:spTree>
    <p:extLst>
      <p:ext uri="{BB962C8B-B14F-4D97-AF65-F5344CB8AC3E}">
        <p14:creationId xmlns:p14="http://schemas.microsoft.com/office/powerpoint/2010/main" val="21899867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screen shot of a graph&#10;&#10;AI-generated content may be incorrect.">
            <a:extLst>
              <a:ext uri="{FF2B5EF4-FFF2-40B4-BE49-F238E27FC236}">
                <a16:creationId xmlns:a16="http://schemas.microsoft.com/office/drawing/2014/main" id="{CE11CBC2-14F3-BD9E-D34A-449F06FF24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931331"/>
            <a:ext cx="3278292" cy="2048932"/>
          </a:xfrm>
          <a:prstGeom prst="rect">
            <a:avLst/>
          </a:prstGeom>
        </p:spPr>
      </p:pic>
      <p:pic>
        <p:nvPicPr>
          <p:cNvPr id="11" name="Picture 10" descr="A screen shot of a graph&#10;&#10;AI-generated content may be incorrect.">
            <a:extLst>
              <a:ext uri="{FF2B5EF4-FFF2-40B4-BE49-F238E27FC236}">
                <a16:creationId xmlns:a16="http://schemas.microsoft.com/office/drawing/2014/main" id="{D4FA8F05-AFB1-306F-D0DE-88D902A6E9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11182" y="3889777"/>
            <a:ext cx="2890492" cy="1806557"/>
          </a:xfrm>
          <a:prstGeom prst="rect">
            <a:avLst/>
          </a:prstGeom>
        </p:spPr>
      </p:pic>
      <p:pic>
        <p:nvPicPr>
          <p:cNvPr id="3" name="Picture 2" descr="A screen shot of a graph&#10;&#10;AI-generated content may be incorrect.">
            <a:extLst>
              <a:ext uri="{FF2B5EF4-FFF2-40B4-BE49-F238E27FC236}">
                <a16:creationId xmlns:a16="http://schemas.microsoft.com/office/drawing/2014/main" id="{891F58EA-C865-A4D6-65B8-AD046ABA37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8764" y="943369"/>
            <a:ext cx="3239769" cy="2024855"/>
          </a:xfrm>
          <a:prstGeom prst="rect">
            <a:avLst/>
          </a:prstGeom>
        </p:spPr>
      </p:pic>
      <p:pic>
        <p:nvPicPr>
          <p:cNvPr id="5" name="Picture 4" descr="A screen shot of a graph&#10;&#10;AI-generated content may be incorrect.">
            <a:extLst>
              <a:ext uri="{FF2B5EF4-FFF2-40B4-BE49-F238E27FC236}">
                <a16:creationId xmlns:a16="http://schemas.microsoft.com/office/drawing/2014/main" id="{84417C5A-DB72-F9A9-CFDF-BC17F065B9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3877729"/>
            <a:ext cx="3278292" cy="2048932"/>
          </a:xfrm>
          <a:prstGeom prst="rect">
            <a:avLst/>
          </a:prstGeom>
        </p:spPr>
      </p:pic>
      <p:pic>
        <p:nvPicPr>
          <p:cNvPr id="7" name="Picture 6" descr="A screen shot of a graph&#10;&#10;AI-generated content may be incorrect.">
            <a:extLst>
              <a:ext uri="{FF2B5EF4-FFF2-40B4-BE49-F238E27FC236}">
                <a16:creationId xmlns:a16="http://schemas.microsoft.com/office/drawing/2014/main" id="{BD15F425-8F6E-7245-E19F-68102591A96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8867" y="2255792"/>
            <a:ext cx="3754265" cy="234641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6B0EA77-2B9B-5709-5360-77F9CA0143C9}"/>
              </a:ext>
            </a:extLst>
          </p:cNvPr>
          <p:cNvSpPr txBox="1"/>
          <p:nvPr/>
        </p:nvSpPr>
        <p:spPr>
          <a:xfrm>
            <a:off x="5868933" y="1771130"/>
            <a:ext cx="45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7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78CA825-F997-FC2E-5BC0-4BF8603F76AC}"/>
              </a:ext>
            </a:extLst>
          </p:cNvPr>
          <p:cNvSpPr txBox="1"/>
          <p:nvPr/>
        </p:nvSpPr>
        <p:spPr>
          <a:xfrm>
            <a:off x="9929362" y="3487169"/>
            <a:ext cx="45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33149-3BBA-5203-FF51-E8F2D106306C}"/>
              </a:ext>
            </a:extLst>
          </p:cNvPr>
          <p:cNvSpPr txBox="1"/>
          <p:nvPr/>
        </p:nvSpPr>
        <p:spPr>
          <a:xfrm>
            <a:off x="2055547" y="3472303"/>
            <a:ext cx="45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7A5D627-DE76-424F-15B5-1626A1994605}"/>
              </a:ext>
            </a:extLst>
          </p:cNvPr>
          <p:cNvSpPr txBox="1"/>
          <p:nvPr/>
        </p:nvSpPr>
        <p:spPr>
          <a:xfrm>
            <a:off x="1989382" y="461232"/>
            <a:ext cx="45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9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158A458-31BB-8C6F-516F-4AC088E9CD86}"/>
              </a:ext>
            </a:extLst>
          </p:cNvPr>
          <p:cNvSpPr txBox="1"/>
          <p:nvPr/>
        </p:nvSpPr>
        <p:spPr>
          <a:xfrm>
            <a:off x="9832356" y="461232"/>
            <a:ext cx="4541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099893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D704D-D082-6189-E509-60BAC9EDE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Ethics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AD8BA-D806-00A1-8F80-F7C90F660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Privacy Risks: Facial images are highly personal data, and mishandling can lead to identity theft or unauthorized surveillance; this project processed all images locally with no personally identifiable info.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Informed Consent: Future applications must require clear, voluntary, and withdrawable participant consent, ensuring individuals understand how their biometric data is used and protected.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Bias &amp; Fairness: Biometric systems, including facial recognition, risk accuracy disparities across demographic groups; while this project didn’t assess those, future systems must audit for bias.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Data Security: Biometric data should be securely stored in encrypted, access-controlled environments with strong deletion policies to prevent unnecessary retention.</a:t>
            </a:r>
          </a:p>
          <a:p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Ethical Deployment: Responsible biometric system development demands fairness, transparency, privacy protection, and proactive steps to maintain public trust.</a:t>
            </a:r>
          </a:p>
        </p:txBody>
      </p:sp>
    </p:spTree>
    <p:extLst>
      <p:ext uri="{BB962C8B-B14F-4D97-AF65-F5344CB8AC3E}">
        <p14:creationId xmlns:p14="http://schemas.microsoft.com/office/powerpoint/2010/main" val="2424420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685</Words>
  <Application>Microsoft Office PowerPoint</Application>
  <PresentationFormat>Widescreen</PresentationFormat>
  <Paragraphs>41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FINAL PROJECT</vt:lpstr>
      <vt:lpstr>Introduction</vt:lpstr>
      <vt:lpstr>Related Work</vt:lpstr>
      <vt:lpstr>Methods</vt:lpstr>
      <vt:lpstr>Results</vt:lpstr>
      <vt:lpstr>PowerPoint Presentation</vt:lpstr>
      <vt:lpstr>PowerPoint Presentation</vt:lpstr>
      <vt:lpstr>Ethics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Julian Brito</dc:creator>
  <cp:lastModifiedBy>Julian Brito</cp:lastModifiedBy>
  <cp:revision>4</cp:revision>
  <dcterms:created xsi:type="dcterms:W3CDTF">2025-04-25T21:20:01Z</dcterms:created>
  <dcterms:modified xsi:type="dcterms:W3CDTF">2025-04-26T01:07:00Z</dcterms:modified>
</cp:coreProperties>
</file>